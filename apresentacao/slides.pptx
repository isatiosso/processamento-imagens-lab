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FFC857"/>
                </a:solidFill>
              </a:rPr>
              <a:t>Detecção de estrelas em constelações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2F2F2"/>
                </a:solidFill>
              </a:rPr>
              <a:t>Segmentação + FFT aplicadas a imagens NOIRLab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2F2F2"/>
                </a:solidFill>
              </a:rPr>
              <a:t>Fernando Fleuri Barbosa · Isabela Xavier Tiosso · Matheus Eduardo Nunhez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2F2F2"/>
                </a:solidFill>
              </a:rPr>
              <a:t>Processamento de Imagens e Sinais — Prof. Dr. Vinicius Santos Andrade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Problema e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Isabela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035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F2F2F2"/>
                </a:solidFill>
              </a:rPr>
              <a:t>Uma foto do céu tem milhares de estrelas fracas, Via Láctea, nebulosas e ruído do sensor.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FFC857"/>
                </a:solidFill>
              </a:rPr>
              <a:t>Objetivo: isolar as estrelas e destacar as principais, que desenham a constelação.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F2F2F2"/>
                </a:solidFill>
              </a:rPr>
              <a:t>Aplicação: pré-processamento para star trackers (orientação de satélites), catalogação e apps de astronomia.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F2F2F2"/>
                </a:solidFill>
              </a:rPr>
              <a:t>Resultado esperado: lista de estrelas (posição, área, brilho) + as 12 mais brilhantes marcadas.</a:t>
            </a:r>
          </a:p>
        </p:txBody>
      </p:sp>
      <p:pic>
        <p:nvPicPr>
          <p:cNvPr id="5" name="Picture 4" descr="10_princip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303520" cy="2736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Dados de entrada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Isabela</a:t>
            </a:r>
          </a:p>
        </p:txBody>
      </p:sp>
      <p:pic>
        <p:nvPicPr>
          <p:cNvPr id="4" name="Picture 3" descr="01_ent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498079" cy="2596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188720"/>
            <a:ext cx="374903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Fonte: NOIRLab — Constellations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JPEG · RGB 8 bits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1280 × 1280 px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Órion e Escorpião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C857"/>
                </a:solidFill>
              </a:rPr>
              <a:t>Histograma: &gt;95% dos pixels são céu escuro; estrelas são a cauda</a:t>
            </a:r>
          </a:p>
        </p:txBody>
      </p:sp>
      <p:pic>
        <p:nvPicPr>
          <p:cNvPr id="6" name="Picture 5" descr="02_hist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5486400" cy="23513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Isabela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377440"/>
            <a:ext cx="1325880" cy="1097280"/>
          </a:xfrm>
          <a:prstGeom prst="rect">
            <a:avLst/>
          </a:prstGeom>
          <a:solidFill>
            <a:srgbClr val="1E2A48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RGB → cinza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FFT 2D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Passa-faixa</a:t>
            </a:r>
          </a:p>
          <a:p>
            <a:r>
              <a:rPr sz="1400">
                <a:solidFill>
                  <a:srgbClr val="F2F2F2"/>
                </a:solidFill>
              </a:rPr>
              <a:t>gaussiano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IFFT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Limiar k·σ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Abertura</a:t>
            </a:r>
          </a:p>
          <a:p>
            <a:r>
              <a:rPr sz="1400">
                <a:solidFill>
                  <a:srgbClr val="F2F2F2"/>
                </a:solidFill>
              </a:rPr>
              <a:t>2×2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377440"/>
            <a:ext cx="1325880" cy="1097280"/>
          </a:xfrm>
          <a:prstGeom prst="rect">
            <a:avLst/>
          </a:prstGeom>
          <a:solidFill>
            <a:srgbClr val="2D4A8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Componentes</a:t>
            </a:r>
          </a:p>
          <a:p>
            <a:r>
              <a:rPr sz="1400">
                <a:solidFill>
                  <a:srgbClr val="F2F2F2"/>
                </a:solidFill>
              </a:rPr>
              <a:t>conexos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0" y="2377440"/>
            <a:ext cx="1325880" cy="1097280"/>
          </a:xfrm>
          <a:prstGeom prst="rect">
            <a:avLst/>
          </a:prstGeom>
          <a:solidFill>
            <a:srgbClr val="1E2A48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2F2F2"/>
                </a:solidFill>
              </a:rPr>
              <a:t>Ranking</a:t>
            </a:r>
          </a:p>
          <a:p>
            <a:r>
              <a:rPr sz="1400">
                <a:solidFill>
                  <a:srgbClr val="F2F2F2"/>
                </a:solidFill>
              </a:rPr>
              <a:t>por fluxo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C857"/>
                </a:solidFill>
              </a:rPr>
              <a:t>Pré-processamento → FFT (frequência) → Segmentação (espacial) → Extração de características → Decisão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F2F2F2"/>
                </a:solidFill>
              </a:rPr>
              <a:t>Cada etapa recebe a saída da anterior: se a FFT não tira o fundo, o limiar marca a Via Láctea como estrela.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FFT: o que o espectro representa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Fernando</a:t>
            </a:r>
          </a:p>
        </p:txBody>
      </p:sp>
      <p:pic>
        <p:nvPicPr>
          <p:cNvPr id="4" name="Picture 3" descr="03_espec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863840" cy="27226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18872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</a:rPr>
              <a:t>Dado transformado: imagem em cinza (luminância)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C857"/>
                </a:solidFill>
              </a:rPr>
              <a:t>Centro = baixas freq. → fundo, Via Láctea, nebulosas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C857"/>
                </a:solidFill>
              </a:rPr>
              <a:t>Meio = estrelas (PSF 2–8 px)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C857"/>
                </a:solidFill>
              </a:rPr>
              <a:t>Bordas = altas freq. → ruído do sensor, JPEG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</a:rPr>
              <a:t>Magnitude: quanto de cada frequência · Fase: onde estão as estruturas</a:t>
            </a:r>
          </a:p>
        </p:txBody>
      </p:sp>
      <p:pic>
        <p:nvPicPr>
          <p:cNvPr id="6" name="Picture 5" descr="04_f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7863840" cy="27226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FFT: filtro passa-faixa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Fernando</a:t>
            </a:r>
          </a:p>
        </p:txBody>
      </p:sp>
      <p:pic>
        <p:nvPicPr>
          <p:cNvPr id="4" name="Picture 3" descr="05_masca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852160" cy="2024771"/>
          </a:xfrm>
          <a:prstGeom prst="rect">
            <a:avLst/>
          </a:prstGeom>
        </p:spPr>
      </p:pic>
      <p:pic>
        <p:nvPicPr>
          <p:cNvPr id="5" name="Picture 4" descr="06_filtr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08960"/>
            <a:ext cx="8046720" cy="2783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09728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2F2F2"/>
                </a:solidFill>
              </a:rPr>
              <a:t>g = IFFT( FFT(f) · H 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2F2F2"/>
                </a:solidFill>
              </a:rPr>
              <a:t>Gaussiano: sem ringing do filtro ideal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2F2F2"/>
                </a:solidFill>
              </a:rPr>
              <a:t>d0 = N/100 tira o fundo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2F2F2"/>
                </a:solidFill>
              </a:rPr>
              <a:t>d1 = N/6 tira o ruído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C857"/>
                </a:solidFill>
              </a:rPr>
              <a:t>Espelhamento nas bordas evita vazamento espectral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2F2F2"/>
                </a:solidFill>
              </a:rPr>
              <a:t>Passa-baixa na freq. ≡ Gaussiano espacial (convolução ↔ multiplicação)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Segmentação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Matheus</a:t>
            </a:r>
          </a:p>
        </p:txBody>
      </p:sp>
      <p:pic>
        <p:nvPicPr>
          <p:cNvPr id="4" name="Picture 3" descr="08_segmen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9537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</a:rPr>
              <a:t>ROI = cada estrela. Limiar = mediana + k·1,4826·MAD (k = 5) → abertura 2×2 → componentes 8-conexos (área ≥ 3 px)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C857"/>
                </a:solidFill>
              </a:rPr>
              <a:t>Otsu supõe 2 classes de tamanho parecido; aqui estrelas são &lt;5% dos pixels → falha. k·σ mede o ruído do fundo.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Por que essa técnica?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Matheus</a:t>
            </a:r>
          </a:p>
        </p:txBody>
      </p:sp>
      <p:pic>
        <p:nvPicPr>
          <p:cNvPr id="4" name="Picture 3" descr="11_comparacao_met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929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2F2F2"/>
                </a:solidFill>
              </a:rPr>
              <a:t>K-means agrupa por cor: a nebulosa vira uma classe inteira. Watershed separa estrelas grudadas, mas depende de boa binarização.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FFC857"/>
                </a:solidFill>
              </a:rPr>
              <a:t>A FFT ataca a causa: tira o fundo antes do limiar.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Resultados: céu sintético com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Fernando</a:t>
            </a:r>
          </a:p>
        </p:txBody>
      </p:sp>
      <p:pic>
        <p:nvPicPr>
          <p:cNvPr id="4" name="Picture 3" descr="13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52160" cy="2842478"/>
          </a:xfrm>
          <a:prstGeom prst="rect">
            <a:avLst/>
          </a:prstGeom>
        </p:spPr>
      </p:pic>
      <p:pic>
        <p:nvPicPr>
          <p:cNvPr id="5" name="Picture 4" descr="14_sensibi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669280" cy="1927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062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60 estrelas em posições conhecidas · acerto = detecção a ≤ 4 px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C857"/>
                </a:solidFill>
              </a:rPr>
              <a:t>Gradiente forte: F1 0,17 (original) → 0,99 (FFT + k·σ)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k baixo → ruído vira estrela (precisão cai) · k alto → estrelas fracas somem (recall cai)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Impacto de uma segmentação errada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Isabela</a:t>
            </a:r>
          </a:p>
        </p:txBody>
      </p:sp>
      <p:pic>
        <p:nvPicPr>
          <p:cNvPr id="4" name="Picture 3" descr="15_i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863840" cy="4042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1887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Sem FFT, a “estrela” nº 1 é a Via Láctea: 412 mil px.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FFC857"/>
                </a:solidFill>
              </a:rPr>
              <a:t>O ranking e o desenho da constelação saem errados.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2F2F2"/>
                </a:solidFill>
              </a:rPr>
              <a:t>Com FFT: Rigel, Betelgeuse e Bellatrix no topo.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Matheus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2F2"/>
                </a:solidFill>
              </a:rPr>
              <a:t>Estrelas saturadas (Sírius): núcleo chapado vira baixa frequência → sobra só um anel.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2F2"/>
                </a:solidFill>
              </a:rPr>
              <a:t>Estrelas sobrepostas em aglomerados → aplicar Watershed depois do passa-faixa.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2F2"/>
                </a:solidFill>
              </a:rPr>
              <a:t>JPEG de divulgação: o fluxo não é fotometria científica.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FC857"/>
                </a:solidFill>
              </a:rPr>
              <a:t>Próximo: identificar a constelação casando triângulos de estrelas com o catálogo Hipparcos.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2F2"/>
                </a:solidFill>
              </a:rPr>
              <a:t>Removemos o classificador antigo: era treinado com dados aleatórios, sem validade.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2F2F2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6400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4B8"/>
                </a:solidFill>
              </a:rPr>
              <a:t>Matheus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FFC857"/>
                </a:solidFill>
              </a:rPr>
              <a:t>No domínio da frequência: fundo = baixa · estrela = média · ruído = alta.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F2F2F2"/>
                </a:solidFill>
              </a:rPr>
              <a:t>O passa-faixa deixa para a segmentação só o que interessa.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F2F2F2"/>
                </a:solidFill>
              </a:rPr>
              <a:t>F1 de ≈0,2 para ≈0,99 em céu com gradiente; estrelas principais de Órion identificadas.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F2F2F2"/>
                </a:solidFill>
              </a:rPr>
              <a:t>Código, testes e notebook: github.com/IsaTiosso/processamento-imagens-lab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